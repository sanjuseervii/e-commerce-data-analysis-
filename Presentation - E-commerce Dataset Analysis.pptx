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Work Sans Semi-Bold" charset="1" panose="00000000000000000000"/>
      <p:regular r:id="rId23"/>
    </p:embeddedFont>
    <p:embeddedFont>
      <p:font typeface="Work Sans" charset="1" panose="00000000000000000000"/>
      <p:regular r:id="rId24"/>
    </p:embeddedFont>
    <p:embeddedFont>
      <p:font typeface="Work Sans Bold" charset="1" panose="00000000000000000000"/>
      <p:regular r:id="rId25"/>
    </p:embeddedFont>
    <p:embeddedFont>
      <p:font typeface="Arimo" charset="1" panose="020B0604020202020204"/>
      <p:regular r:id="rId26"/>
    </p:embeddedFont>
    <p:embeddedFont>
      <p:font typeface="Canva Sans" charset="1" panose="020B0503030501040103"/>
      <p:regular r:id="rId27"/>
    </p:embeddedFont>
    <p:embeddedFont>
      <p:font typeface="Canva Sans Bold" charset="1" panose="020B0803030501040103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778DA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34675" y="7834471"/>
            <a:ext cx="6886575" cy="1785779"/>
            <a:chOff x="0" y="0"/>
            <a:chExt cx="1813748" cy="470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13748" cy="470329"/>
            </a:xfrm>
            <a:custGeom>
              <a:avLst/>
              <a:gdLst/>
              <a:ahLst/>
              <a:cxnLst/>
              <a:rect r="r" b="b" t="t" l="l"/>
              <a:pathLst>
                <a:path h="470329" w="1813748">
                  <a:moveTo>
                    <a:pt x="44968" y="0"/>
                  </a:moveTo>
                  <a:lnTo>
                    <a:pt x="1768780" y="0"/>
                  </a:lnTo>
                  <a:cubicBezTo>
                    <a:pt x="1780706" y="0"/>
                    <a:pt x="1792144" y="4738"/>
                    <a:pt x="1800577" y="13171"/>
                  </a:cubicBezTo>
                  <a:cubicBezTo>
                    <a:pt x="1809011" y="21604"/>
                    <a:pt x="1813748" y="33042"/>
                    <a:pt x="1813748" y="44968"/>
                  </a:cubicBezTo>
                  <a:lnTo>
                    <a:pt x="1813748" y="425360"/>
                  </a:lnTo>
                  <a:cubicBezTo>
                    <a:pt x="1813748" y="437287"/>
                    <a:pt x="1809011" y="448724"/>
                    <a:pt x="1800577" y="457158"/>
                  </a:cubicBezTo>
                  <a:cubicBezTo>
                    <a:pt x="1792144" y="465591"/>
                    <a:pt x="1780706" y="470329"/>
                    <a:pt x="1768780" y="470329"/>
                  </a:cubicBezTo>
                  <a:lnTo>
                    <a:pt x="44968" y="470329"/>
                  </a:lnTo>
                  <a:cubicBezTo>
                    <a:pt x="33042" y="470329"/>
                    <a:pt x="21604" y="465591"/>
                    <a:pt x="13171" y="457158"/>
                  </a:cubicBezTo>
                  <a:cubicBezTo>
                    <a:pt x="4738" y="448724"/>
                    <a:pt x="0" y="437287"/>
                    <a:pt x="0" y="425360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813748" cy="527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3657600"/>
            <a:ext cx="6886575" cy="3872071"/>
            <a:chOff x="0" y="0"/>
            <a:chExt cx="1066911" cy="5998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6911" cy="599885"/>
            </a:xfrm>
            <a:custGeom>
              <a:avLst/>
              <a:gdLst/>
              <a:ahLst/>
              <a:cxnLst/>
              <a:rect r="r" b="b" t="t" l="l"/>
              <a:pathLst>
                <a:path h="599885" w="1066911">
                  <a:moveTo>
                    <a:pt x="44968" y="0"/>
                  </a:moveTo>
                  <a:lnTo>
                    <a:pt x="1021942" y="0"/>
                  </a:lnTo>
                  <a:cubicBezTo>
                    <a:pt x="1033869" y="0"/>
                    <a:pt x="1045307" y="4738"/>
                    <a:pt x="1053740" y="13171"/>
                  </a:cubicBezTo>
                  <a:cubicBezTo>
                    <a:pt x="1062173" y="21604"/>
                    <a:pt x="1066911" y="33042"/>
                    <a:pt x="1066911" y="44968"/>
                  </a:cubicBezTo>
                  <a:lnTo>
                    <a:pt x="1066911" y="554917"/>
                  </a:lnTo>
                  <a:cubicBezTo>
                    <a:pt x="1066911" y="566843"/>
                    <a:pt x="1062173" y="578281"/>
                    <a:pt x="1053740" y="586714"/>
                  </a:cubicBezTo>
                  <a:cubicBezTo>
                    <a:pt x="1045307" y="595147"/>
                    <a:pt x="1033869" y="599885"/>
                    <a:pt x="1021942" y="599885"/>
                  </a:cubicBezTo>
                  <a:lnTo>
                    <a:pt x="44968" y="599885"/>
                  </a:lnTo>
                  <a:cubicBezTo>
                    <a:pt x="33042" y="599885"/>
                    <a:pt x="21604" y="595147"/>
                    <a:pt x="13171" y="586714"/>
                  </a:cubicBezTo>
                  <a:cubicBezTo>
                    <a:pt x="4738" y="578281"/>
                    <a:pt x="0" y="566843"/>
                    <a:pt x="0" y="554917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202" t="0" r="-20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66750" y="3657600"/>
            <a:ext cx="9763125" cy="5962650"/>
            <a:chOff x="0" y="0"/>
            <a:chExt cx="4083676" cy="24940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4483" y="50038"/>
              <a:ext cx="3974583" cy="2394589"/>
            </a:xfrm>
            <a:custGeom>
              <a:avLst/>
              <a:gdLst/>
              <a:ahLst/>
              <a:cxnLst/>
              <a:rect r="r" b="b" t="t" l="l"/>
              <a:pathLst>
                <a:path h="2394589" w="3974583">
                  <a:moveTo>
                    <a:pt x="3886953" y="2394589"/>
                  </a:moveTo>
                  <a:lnTo>
                    <a:pt x="87757" y="2394589"/>
                  </a:lnTo>
                  <a:cubicBezTo>
                    <a:pt x="39370" y="2394589"/>
                    <a:pt x="0" y="2355346"/>
                    <a:pt x="0" y="2306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886826" y="0"/>
                  </a:lnTo>
                  <a:cubicBezTo>
                    <a:pt x="3935213" y="0"/>
                    <a:pt x="3974583" y="39243"/>
                    <a:pt x="3974583" y="87757"/>
                  </a:cubicBezTo>
                  <a:lnTo>
                    <a:pt x="3974583" y="2306832"/>
                  </a:lnTo>
                  <a:cubicBezTo>
                    <a:pt x="3974583" y="2355219"/>
                    <a:pt x="3935340" y="2394589"/>
                    <a:pt x="3886826" y="2394589"/>
                  </a:cubicBezTo>
                  <a:close/>
                </a:path>
              </a:pathLst>
            </a:custGeom>
            <a:blipFill>
              <a:blip r:embed="rId3"/>
              <a:stretch>
                <a:fillRect l="0" t="-209" r="0" b="-20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83549" cy="2493903"/>
            </a:xfrm>
            <a:custGeom>
              <a:avLst/>
              <a:gdLst/>
              <a:ahLst/>
              <a:cxnLst/>
              <a:rect r="r" b="b" t="t" l="l"/>
              <a:pathLst>
                <a:path h="2493903" w="4083549">
                  <a:moveTo>
                    <a:pt x="0" y="91567"/>
                  </a:moveTo>
                  <a:lnTo>
                    <a:pt x="0" y="2402337"/>
                  </a:lnTo>
                  <a:cubicBezTo>
                    <a:pt x="0" y="2452882"/>
                    <a:pt x="41021" y="2493903"/>
                    <a:pt x="91567" y="2493903"/>
                  </a:cubicBezTo>
                  <a:lnTo>
                    <a:pt x="3991982" y="2493903"/>
                  </a:lnTo>
                  <a:cubicBezTo>
                    <a:pt x="4042528" y="2493903"/>
                    <a:pt x="4083549" y="2452882"/>
                    <a:pt x="4083549" y="2402337"/>
                  </a:cubicBezTo>
                  <a:lnTo>
                    <a:pt x="4083549" y="91567"/>
                  </a:lnTo>
                  <a:cubicBezTo>
                    <a:pt x="4083549" y="41021"/>
                    <a:pt x="4042528" y="0"/>
                    <a:pt x="3991982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3241793" y="331724"/>
                  </a:moveTo>
                  <a:lnTo>
                    <a:pt x="3900923" y="331724"/>
                  </a:lnTo>
                  <a:cubicBezTo>
                    <a:pt x="3951469" y="331724"/>
                    <a:pt x="3992490" y="372745"/>
                    <a:pt x="3992490" y="423291"/>
                  </a:cubicBezTo>
                  <a:lnTo>
                    <a:pt x="3992490" y="2311277"/>
                  </a:lnTo>
                  <a:cubicBezTo>
                    <a:pt x="3992490" y="2361823"/>
                    <a:pt x="3951469" y="2402844"/>
                    <a:pt x="3900923" y="2402844"/>
                  </a:cubicBezTo>
                  <a:lnTo>
                    <a:pt x="182753" y="2402844"/>
                  </a:lnTo>
                  <a:cubicBezTo>
                    <a:pt x="132207" y="2402844"/>
                    <a:pt x="91186" y="2361823"/>
                    <a:pt x="91186" y="2311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944740" y="91186"/>
                  </a:lnTo>
                  <a:cubicBezTo>
                    <a:pt x="2970775" y="91186"/>
                    <a:pt x="2995667" y="102235"/>
                    <a:pt x="3013066" y="121666"/>
                  </a:cubicBezTo>
                  <a:lnTo>
                    <a:pt x="3173721" y="301244"/>
                  </a:lnTo>
                  <a:cubicBezTo>
                    <a:pt x="3191120" y="320675"/>
                    <a:pt x="3215885" y="331724"/>
                    <a:pt x="3242047" y="331724"/>
                  </a:cubicBezTo>
                  <a:lnTo>
                    <a:pt x="3241793" y="331724"/>
                  </a:lnTo>
                  <a:close/>
                </a:path>
              </a:pathLst>
            </a:custGeom>
            <a:solidFill>
              <a:srgbClr val="E0E1DD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5220953" y="1376364"/>
            <a:ext cx="1266822" cy="1266822"/>
          </a:xfrm>
          <a:custGeom>
            <a:avLst/>
            <a:gdLst/>
            <a:ahLst/>
            <a:cxnLst/>
            <a:rect r="r" b="b" t="t" l="l"/>
            <a:pathLst>
              <a:path h="1266822" w="1266822">
                <a:moveTo>
                  <a:pt x="0" y="0"/>
                </a:moveTo>
                <a:lnTo>
                  <a:pt x="1266822" y="0"/>
                </a:lnTo>
                <a:lnTo>
                  <a:pt x="1266822" y="1266822"/>
                </a:lnTo>
                <a:lnTo>
                  <a:pt x="0" y="12668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20434" y="1576571"/>
            <a:ext cx="13424266" cy="1022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5"/>
              </a:lnSpc>
            </a:pPr>
            <a:r>
              <a:rPr lang="en-US" b="true" sz="7900" spc="-434">
                <a:solidFill>
                  <a:srgbClr val="E0E1DD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E-commerce Dataset Analysis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1388359" y="8167816"/>
            <a:ext cx="5603210" cy="999890"/>
            <a:chOff x="0" y="0"/>
            <a:chExt cx="7470947" cy="1333187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470947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 spc="-165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Presented by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675962"/>
              <a:ext cx="7470947" cy="657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sz="3000" spc="-16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Sanju Devi .S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12639675" cy="3462745"/>
            <a:chOff x="0" y="0"/>
            <a:chExt cx="16852900" cy="46169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3350"/>
              <a:ext cx="16852900" cy="1284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Introduction and Objectives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55253"/>
              <a:ext cx="168529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Analyzing customer behavior and trends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252378"/>
              <a:ext cx="11506200" cy="1364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This analysis aims to comprehend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customer behavior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, identify key sales trends, and assess product performance, utilizing SQL and Python for informed, data-driven decisions in e-commerce.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8324850" cy="8953500"/>
            <a:chOff x="0" y="0"/>
            <a:chExt cx="2448748" cy="26336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8751" cy="2633665"/>
            </a:xfrm>
            <a:custGeom>
              <a:avLst/>
              <a:gdLst/>
              <a:ahLst/>
              <a:cxnLst/>
              <a:rect r="r" b="b" t="t" l="l"/>
              <a:pathLst>
                <a:path h="2633665" w="2448751">
                  <a:moveTo>
                    <a:pt x="2101792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2354273"/>
                  </a:lnTo>
                  <a:cubicBezTo>
                    <a:pt x="0" y="2390784"/>
                    <a:pt x="13458" y="2426013"/>
                    <a:pt x="37800" y="2453225"/>
                  </a:cubicBezTo>
                  <a:lnTo>
                    <a:pt x="154967" y="2584201"/>
                  </a:lnTo>
                  <a:cubicBezTo>
                    <a:pt x="183122" y="2615677"/>
                    <a:pt x="223353" y="2633666"/>
                    <a:pt x="265584" y="2633665"/>
                  </a:cubicBezTo>
                  <a:lnTo>
                    <a:pt x="2300335" y="2633665"/>
                  </a:lnTo>
                  <a:cubicBezTo>
                    <a:pt x="2339697" y="2633666"/>
                    <a:pt x="2377447" y="2618029"/>
                    <a:pt x="2405281" y="2590196"/>
                  </a:cubicBezTo>
                  <a:cubicBezTo>
                    <a:pt x="2433114" y="2562363"/>
                    <a:pt x="2448751" y="2524613"/>
                    <a:pt x="2448751" y="2485251"/>
                  </a:cubicBezTo>
                  <a:lnTo>
                    <a:pt x="2448751" y="366141"/>
                  </a:lnTo>
                  <a:cubicBezTo>
                    <a:pt x="2448751" y="329143"/>
                    <a:pt x="2434932" y="293478"/>
                    <a:pt x="2410002" y="266140"/>
                  </a:cubicBezTo>
                  <a:lnTo>
                    <a:pt x="2211459" y="48414"/>
                  </a:lnTo>
                  <a:cubicBezTo>
                    <a:pt x="2183337" y="17574"/>
                    <a:pt x="2143529" y="0"/>
                    <a:pt x="2101792" y="0"/>
                  </a:cubicBezTo>
                  <a:close/>
                </a:path>
              </a:pathLst>
            </a:custGeom>
            <a:solidFill>
              <a:srgbClr val="1B26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192553" cy="23581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553" cy="2358124"/>
            </a:xfrm>
            <a:custGeom>
              <a:avLst/>
              <a:gdLst/>
              <a:ahLst/>
              <a:cxnLst/>
              <a:rect r="r" b="b" t="t" l="l"/>
              <a:pathLst>
                <a:path h="2358124" w="2192553">
                  <a:moveTo>
                    <a:pt x="51149" y="0"/>
                  </a:moveTo>
                  <a:lnTo>
                    <a:pt x="2141404" y="0"/>
                  </a:lnTo>
                  <a:cubicBezTo>
                    <a:pt x="2154970" y="0"/>
                    <a:pt x="2167980" y="5389"/>
                    <a:pt x="2177572" y="14981"/>
                  </a:cubicBezTo>
                  <a:cubicBezTo>
                    <a:pt x="2187164" y="24573"/>
                    <a:pt x="2192553" y="37583"/>
                    <a:pt x="2192553" y="51149"/>
                  </a:cubicBezTo>
                  <a:lnTo>
                    <a:pt x="2192553" y="2306975"/>
                  </a:lnTo>
                  <a:cubicBezTo>
                    <a:pt x="2192553" y="2320540"/>
                    <a:pt x="2187164" y="2333550"/>
                    <a:pt x="2177572" y="2343142"/>
                  </a:cubicBezTo>
                  <a:cubicBezTo>
                    <a:pt x="2167980" y="2352735"/>
                    <a:pt x="2154970" y="2358124"/>
                    <a:pt x="2141404" y="2358124"/>
                  </a:cubicBezTo>
                  <a:lnTo>
                    <a:pt x="51149" y="2358124"/>
                  </a:lnTo>
                  <a:cubicBezTo>
                    <a:pt x="37583" y="2358124"/>
                    <a:pt x="24573" y="2352735"/>
                    <a:pt x="14981" y="2343142"/>
                  </a:cubicBezTo>
                  <a:cubicBezTo>
                    <a:pt x="5389" y="2333550"/>
                    <a:pt x="0" y="2320540"/>
                    <a:pt x="0" y="2306975"/>
                  </a:cubicBezTo>
                  <a:lnTo>
                    <a:pt x="0" y="51149"/>
                  </a:lnTo>
                  <a:cubicBezTo>
                    <a:pt x="0" y="37583"/>
                    <a:pt x="5389" y="24573"/>
                    <a:pt x="14981" y="14981"/>
                  </a:cubicBezTo>
                  <a:cubicBezTo>
                    <a:pt x="24573" y="5389"/>
                    <a:pt x="37583" y="0"/>
                    <a:pt x="51149" y="0"/>
                  </a:cubicBezTo>
                  <a:close/>
                </a:path>
              </a:pathLst>
            </a:custGeom>
            <a:solidFill>
              <a:srgbClr val="778DA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92553" cy="241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96400" y="1190507"/>
            <a:ext cx="8324850" cy="7905985"/>
            <a:chOff x="0" y="0"/>
            <a:chExt cx="2252808" cy="21394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52809" cy="2139471"/>
            </a:xfrm>
            <a:custGeom>
              <a:avLst/>
              <a:gdLst/>
              <a:ahLst/>
              <a:cxnLst/>
              <a:rect r="r" b="b" t="t" l="l"/>
              <a:pathLst>
                <a:path h="2139471" w="2252809">
                  <a:moveTo>
                    <a:pt x="1765367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1961798"/>
                  </a:lnTo>
                  <a:cubicBezTo>
                    <a:pt x="0" y="2059924"/>
                    <a:pt x="79547" y="2139471"/>
                    <a:pt x="177673" y="2139471"/>
                  </a:cubicBezTo>
                  <a:lnTo>
                    <a:pt x="2075136" y="2139471"/>
                  </a:lnTo>
                  <a:cubicBezTo>
                    <a:pt x="2173262" y="2139471"/>
                    <a:pt x="2252809" y="2059924"/>
                    <a:pt x="2252809" y="1961798"/>
                  </a:cubicBezTo>
                  <a:lnTo>
                    <a:pt x="2252809" y="523958"/>
                  </a:lnTo>
                  <a:cubicBezTo>
                    <a:pt x="2252809" y="480251"/>
                    <a:pt x="2236699" y="438079"/>
                    <a:pt x="2207560" y="405503"/>
                  </a:cubicBezTo>
                  <a:lnTo>
                    <a:pt x="1897783" y="59214"/>
                  </a:lnTo>
                  <a:cubicBezTo>
                    <a:pt x="1864079" y="21536"/>
                    <a:pt x="1815920" y="0"/>
                    <a:pt x="1765367" y="0"/>
                  </a:cubicBezTo>
                  <a:close/>
                </a:path>
              </a:pathLst>
            </a:custGeom>
            <a:blipFill>
              <a:blip r:embed="rId2"/>
              <a:stretch>
                <a:fillRect l="-8036" t="0" r="-803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05025" y="1562100"/>
            <a:ext cx="5448300" cy="5269338"/>
            <a:chOff x="0" y="0"/>
            <a:chExt cx="7264400" cy="7025784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50129" y="4746769"/>
              <a:ext cx="7214271" cy="22790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This dataset includes comprehensive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transactional records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 from our e-commerce platform, featuring key tables such as Customers, Orders, Products, and Payments, spanning multiple years of data.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133350"/>
              <a:ext cx="7264400" cy="2465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Dataset Overview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2919027"/>
              <a:ext cx="7264400" cy="1238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sz="3000" spc="-165" strike="noStrike" u="none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E-commerce Transactional Records Analysis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778D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12639675" cy="3462745"/>
            <a:chOff x="0" y="0"/>
            <a:chExt cx="16852900" cy="46169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3350"/>
              <a:ext cx="16852900" cy="1284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SQL Analysis Approach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55253"/>
              <a:ext cx="168529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Data Extraction and Aggregation Techniques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252378"/>
              <a:ext cx="11506200" cy="1364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This section outlines the essential SQL techniques for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efficient data extraction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, filtering, and aggregation, enabling comprehensive analysis of e-commerce datasets to derive actionable insights.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1B263B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6886575" cy="3398892"/>
            <a:chOff x="0" y="0"/>
            <a:chExt cx="9182100" cy="453185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588631"/>
              <a:ext cx="7264400" cy="294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This section highlights critical insights derived from SQL analysis, focusing on total sales and revenue categorized by product types. Understanding these findings is essential for identifying high-performing categories and informing strategic decisions to enhance overall e-commerce performance.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33350"/>
              <a:ext cx="9182100" cy="1284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Key Findings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312605" y="981075"/>
            <a:ext cx="6946695" cy="7471274"/>
            <a:chOff x="0" y="0"/>
            <a:chExt cx="3482081" cy="37450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483" y="50038"/>
              <a:ext cx="3372988" cy="3645589"/>
            </a:xfrm>
            <a:custGeom>
              <a:avLst/>
              <a:gdLst/>
              <a:ahLst/>
              <a:cxnLst/>
              <a:rect r="r" b="b" t="t" l="l"/>
              <a:pathLst>
                <a:path h="3645589" w="3372988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l="-43785" t="-1372" r="-19450" b="42516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81954" cy="3744903"/>
            </a:xfrm>
            <a:custGeom>
              <a:avLst/>
              <a:gdLst/>
              <a:ahLst/>
              <a:cxnLst/>
              <a:rect r="r" b="b" t="t" l="l"/>
              <a:pathLst>
                <a:path h="3744903" w="3481954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778DA9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1403" y="1420478"/>
            <a:ext cx="9817" cy="1885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4"/>
              </a:lnSpc>
              <a:spcBef>
                <a:spcPct val="0"/>
              </a:spcBef>
            </a:pPr>
          </a:p>
          <a:p>
            <a:pPr algn="ctr">
              <a:lnSpc>
                <a:spcPts val="7214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447124" y="1232951"/>
            <a:ext cx="9857713" cy="3600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2"/>
              </a:lnSpc>
            </a:pPr>
          </a:p>
          <a:p>
            <a:pPr algn="l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Delivered: 96,476 → 97.02%</a:t>
            </a:r>
          </a:p>
          <a:p>
            <a:pPr algn="l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Approved: 99,281 → 99.83%</a:t>
            </a:r>
          </a:p>
          <a:p>
            <a:pPr algn="l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Purchased: 100%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184169" y="775702"/>
            <a:ext cx="13360778" cy="91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2"/>
              </a:lnSpc>
              <a:spcBef>
                <a:spcPct val="0"/>
              </a:spcBef>
            </a:pPr>
            <a:r>
              <a:rPr lang="en-US" sz="52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📦 ORDER PERFORMANCE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7124" y="5019675"/>
            <a:ext cx="17293449" cy="542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💡 Insight:</a:t>
            </a:r>
          </a:p>
          <a:p>
            <a:pPr algn="l">
              <a:lnSpc>
                <a:spcPts val="7172"/>
              </a:lnSpc>
            </a:pPr>
          </a:p>
          <a:p>
            <a:pPr algn="l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Purchase to approval almost perfect.</a:t>
            </a:r>
          </a:p>
          <a:p>
            <a:pPr algn="l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Delivery rate is strong (97%) — but 3% gap still exists (returns, cancellations, logistics issues).</a:t>
            </a:r>
          </a:p>
          <a:p>
            <a:pPr algn="just">
              <a:lnSpc>
                <a:spcPts val="71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492" y="904875"/>
            <a:ext cx="17525016" cy="632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172"/>
              </a:lnSpc>
              <a:spcBef>
                <a:spcPct val="0"/>
              </a:spcBef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🚚 DELIVER</a:t>
            </a: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Y PERFORMANCE</a:t>
            </a:r>
          </a:p>
          <a:p>
            <a:pPr algn="just">
              <a:lnSpc>
                <a:spcPts val="7172"/>
              </a:lnSpc>
              <a:spcBef>
                <a:spcPct val="0"/>
              </a:spcBef>
            </a:pPr>
          </a:p>
          <a:p>
            <a:pPr algn="just">
              <a:lnSpc>
                <a:spcPts val="7172"/>
              </a:lnSpc>
              <a:spcBef>
                <a:spcPct val="0"/>
              </a:spcBef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📊 Average Delivery Delay: -11.17 days</a:t>
            </a:r>
          </a:p>
          <a:p>
            <a:pPr algn="just">
              <a:lnSpc>
                <a:spcPts val="7172"/>
              </a:lnSpc>
              <a:spcBef>
                <a:spcPct val="0"/>
              </a:spcBef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Negative means → orders delivered before estimated date</a:t>
            </a:r>
          </a:p>
          <a:p>
            <a:pPr algn="just">
              <a:lnSpc>
                <a:spcPts val="7172"/>
              </a:lnSpc>
              <a:spcBef>
                <a:spcPct val="0"/>
              </a:spcBef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Min Delay: -146 days (extremely early)</a:t>
            </a:r>
          </a:p>
          <a:p>
            <a:pPr algn="just">
              <a:lnSpc>
                <a:spcPts val="7172"/>
              </a:lnSpc>
              <a:spcBef>
                <a:spcPct val="0"/>
              </a:spcBef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Max Delay: +188 days (extremely late)</a:t>
            </a:r>
          </a:p>
          <a:p>
            <a:pPr algn="just">
              <a:lnSpc>
                <a:spcPts val="717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34172" y="1420718"/>
            <a:ext cx="6525128" cy="4907109"/>
          </a:xfrm>
          <a:custGeom>
            <a:avLst/>
            <a:gdLst/>
            <a:ahLst/>
            <a:cxnLst/>
            <a:rect r="r" b="b" t="t" l="l"/>
            <a:pathLst>
              <a:path h="4907109" w="6525128">
                <a:moveTo>
                  <a:pt x="0" y="0"/>
                </a:moveTo>
                <a:lnTo>
                  <a:pt x="6525128" y="0"/>
                </a:lnTo>
                <a:lnTo>
                  <a:pt x="6525128" y="4907109"/>
                </a:lnTo>
                <a:lnTo>
                  <a:pt x="0" y="4907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00884"/>
            <a:ext cx="8115300" cy="5422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💡 Insight:</a:t>
            </a:r>
          </a:p>
          <a:p>
            <a:pPr algn="ctr">
              <a:lnSpc>
                <a:spcPts val="7172"/>
              </a:lnSpc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Majority deliveries are early (very good logistics).</a:t>
            </a:r>
          </a:p>
          <a:p>
            <a:pPr algn="ctr">
              <a:lnSpc>
                <a:spcPts val="7172"/>
              </a:lnSpc>
              <a:spcBef>
                <a:spcPct val="0"/>
              </a:spcBef>
            </a:pPr>
            <a:r>
              <a:rPr lang="en-US" sz="5122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But ~8% orders are late/very late → this likely impacts bad reviews.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0477" y="647315"/>
            <a:ext cx="9287652" cy="425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6"/>
              </a:lnSpc>
            </a:pPr>
            <a:r>
              <a:rPr lang="en-US" sz="40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🏪 SELLER ANALYSIS</a:t>
            </a:r>
          </a:p>
          <a:p>
            <a:pPr algn="l">
              <a:lnSpc>
                <a:spcPts val="5666"/>
              </a:lnSpc>
            </a:pPr>
            <a:r>
              <a:rPr lang="en-US" sz="40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🔝 Top Sellers by Orders:</a:t>
            </a:r>
          </a:p>
          <a:p>
            <a:pPr algn="l">
              <a:lnSpc>
                <a:spcPts val="5666"/>
              </a:lnSpc>
            </a:pPr>
            <a:r>
              <a:rPr lang="en-US" sz="40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6560211a19b4... → 2033 orders</a:t>
            </a:r>
          </a:p>
          <a:p>
            <a:pPr algn="l">
              <a:lnSpc>
                <a:spcPts val="5666"/>
              </a:lnSpc>
            </a:pPr>
            <a:r>
              <a:rPr lang="en-US" sz="40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4a3ca9315b74... → 1987 orders</a:t>
            </a:r>
          </a:p>
          <a:p>
            <a:pPr algn="l">
              <a:lnSpc>
                <a:spcPts val="5666"/>
              </a:lnSpc>
            </a:pPr>
            <a:r>
              <a:rPr lang="en-US" sz="404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1f50f920176f... → 1931 orders</a:t>
            </a:r>
          </a:p>
          <a:p>
            <a:pPr algn="ctr">
              <a:lnSpc>
                <a:spcPts val="5666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42027" y="4819967"/>
            <a:ext cx="17945973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🔝 Top Revenue Sellers: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4869f7a5dfa2... → 206K revenue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53243585a1d6... → 200K revenue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💡 Some sellers high revenue but not highest orders → means higher priced products.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418213"/>
            <a:ext cx="18596939" cy="630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🛍️ TOP REVENUE CATEGORIES</a:t>
            </a:r>
          </a:p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🥇 Watches &amp; Gifts</a:t>
            </a:r>
          </a:p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🥈 Health &amp; Beauty</a:t>
            </a:r>
          </a:p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🥉 Bed, Bath &amp; Table</a:t>
            </a:r>
          </a:p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🏅 Sports &amp; Leisure</a:t>
            </a:r>
          </a:p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💡 These are the most profitable segments.</a:t>
            </a:r>
          </a:p>
          <a:p>
            <a:pPr algn="l">
              <a:lnSpc>
                <a:spcPts val="5500"/>
              </a:lnSpc>
            </a:pPr>
            <a:r>
              <a:rPr lang="en-US" sz="5500" spc="-30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Low revenue categories like books, drinks, signaling etc → niche market.</a:t>
            </a:r>
          </a:p>
          <a:p>
            <a:pPr algn="l">
              <a:lnSpc>
                <a:spcPts val="55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8373" y="1104900"/>
            <a:ext cx="17799627" cy="7309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⭐ REVIEW ANALYSIS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Total Reviews: 99,224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⭐ 5 Star → 57,328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⭐ 4 Star → 19,142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⭐ 3 Star → 8,179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⭐ 2 Star → 3,151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⭐ 1 Star → 11,424</a:t>
            </a:r>
          </a:p>
          <a:p>
            <a:pPr algn="l">
              <a:lnSpc>
                <a:spcPts val="3898"/>
              </a:lnSpc>
            </a:pPr>
          </a:p>
          <a:p>
            <a:pPr algn="l">
              <a:lnSpc>
                <a:spcPts val="3898"/>
              </a:lnSpc>
            </a:pP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📊 Average Rating: 4.08 / 5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Sentiment Split:</a:t>
            </a:r>
          </a:p>
          <a:p>
            <a:pPr algn="l">
              <a:lnSpc>
                <a:spcPts val="3898"/>
              </a:lnSpc>
            </a:pP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Good (4 &amp; 5): 77.06%</a:t>
            </a:r>
          </a:p>
          <a:p>
            <a:pPr algn="l">
              <a:lnSpc>
                <a:spcPts val="3898"/>
              </a:lnSpc>
            </a:pPr>
            <a:r>
              <a:rPr lang="en-US" sz="3898" spc="-214" b="true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Neutral (3): 8.24%</a:t>
            </a:r>
          </a:p>
          <a:p>
            <a:pPr algn="l">
              <a:lnSpc>
                <a:spcPts val="3898"/>
              </a:lnSpc>
              <a:spcBef>
                <a:spcPct val="0"/>
              </a:spcBef>
            </a:pPr>
            <a:r>
              <a:rPr lang="en-US" b="true" sz="3898" spc="-214">
                <a:solidFill>
                  <a:srgbClr val="FFFFFF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Bad (1 &amp; 2): 14.68%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778D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252528"/>
            <a:ext cx="15857725" cy="544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⚠️ IMPORTANT BUSINESS INSIGHT</a:t>
            </a: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Bad reviews: 14.6%</a:t>
            </a: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Very Late deliveries: 6,286 orders</a:t>
            </a: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👉 Strong possibility: Late deliveries causing low ratings</a:t>
            </a: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Example:</a:t>
            </a: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Some reviews say: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"Não chegou meu produto"</a:t>
            </a: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"Nada de chegar o meu pedido"</a:t>
            </a:r>
          </a:p>
          <a:p>
            <a:pPr algn="l">
              <a:lnSpc>
                <a:spcPts val="3599"/>
              </a:lnSpc>
            </a:pPr>
          </a:p>
          <a:p>
            <a:pPr algn="l">
              <a:lnSpc>
                <a:spcPts val="3599"/>
              </a:lnSpc>
            </a:pPr>
            <a:r>
              <a:rPr lang="en-US" sz="2999" spc="-164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Means product didn't arrive or was delayed.</a:t>
            </a:r>
          </a:p>
          <a:p>
            <a:pPr algn="l">
              <a:lnSpc>
                <a:spcPts val="4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lnTo>
                    <a:pt x="965120" y="1606277"/>
                  </a:lnTo>
                  <a:close/>
                </a:path>
              </a:pathLst>
            </a:custGeom>
            <a:solidFill>
              <a:srgbClr val="1B263B"/>
            </a:solidFill>
            <a:ln cap="rnd">
              <a:noFill/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0312605" y="981075"/>
            <a:ext cx="6946695" cy="7471274"/>
            <a:chOff x="0" y="0"/>
            <a:chExt cx="3482081" cy="37450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54483" y="50038"/>
              <a:ext cx="3372988" cy="3645589"/>
            </a:xfrm>
            <a:custGeom>
              <a:avLst/>
              <a:gdLst/>
              <a:ahLst/>
              <a:cxnLst/>
              <a:rect r="r" b="b" t="t" l="l"/>
              <a:pathLst>
                <a:path h="3645589" w="3372988">
                  <a:moveTo>
                    <a:pt x="3285358" y="3645589"/>
                  </a:moveTo>
                  <a:lnTo>
                    <a:pt x="87757" y="3645589"/>
                  </a:lnTo>
                  <a:cubicBezTo>
                    <a:pt x="39370" y="3645589"/>
                    <a:pt x="0" y="3606346"/>
                    <a:pt x="0" y="3557832"/>
                  </a:cubicBezTo>
                  <a:lnTo>
                    <a:pt x="0" y="87757"/>
                  </a:lnTo>
                  <a:cubicBezTo>
                    <a:pt x="0" y="39370"/>
                    <a:pt x="39243" y="0"/>
                    <a:pt x="87757" y="0"/>
                  </a:cubicBezTo>
                  <a:lnTo>
                    <a:pt x="3285231" y="0"/>
                  </a:lnTo>
                  <a:cubicBezTo>
                    <a:pt x="3333618" y="0"/>
                    <a:pt x="3372988" y="39243"/>
                    <a:pt x="3372988" y="87757"/>
                  </a:cubicBezTo>
                  <a:lnTo>
                    <a:pt x="3372988" y="3557832"/>
                  </a:lnTo>
                  <a:cubicBezTo>
                    <a:pt x="3372988" y="3606219"/>
                    <a:pt x="3333745" y="3645589"/>
                    <a:pt x="3285231" y="3645589"/>
                  </a:cubicBezTo>
                  <a:close/>
                </a:path>
              </a:pathLst>
            </a:custGeom>
            <a:blipFill>
              <a:blip r:embed="rId2"/>
              <a:stretch>
                <a:fillRect l="-528" t="0" r="-528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81954" cy="3744903"/>
            </a:xfrm>
            <a:custGeom>
              <a:avLst/>
              <a:gdLst/>
              <a:ahLst/>
              <a:cxnLst/>
              <a:rect r="r" b="b" t="t" l="l"/>
              <a:pathLst>
                <a:path h="3744903" w="3481954">
                  <a:moveTo>
                    <a:pt x="0" y="91567"/>
                  </a:moveTo>
                  <a:lnTo>
                    <a:pt x="0" y="3653336"/>
                  </a:lnTo>
                  <a:cubicBezTo>
                    <a:pt x="0" y="3703882"/>
                    <a:pt x="41021" y="3744903"/>
                    <a:pt x="91567" y="3744903"/>
                  </a:cubicBezTo>
                  <a:lnTo>
                    <a:pt x="3390387" y="3744903"/>
                  </a:lnTo>
                  <a:cubicBezTo>
                    <a:pt x="3440933" y="3744903"/>
                    <a:pt x="3481954" y="3703882"/>
                    <a:pt x="3481954" y="3653336"/>
                  </a:cubicBezTo>
                  <a:lnTo>
                    <a:pt x="3481954" y="91567"/>
                  </a:lnTo>
                  <a:cubicBezTo>
                    <a:pt x="3481954" y="41021"/>
                    <a:pt x="3440933" y="0"/>
                    <a:pt x="3390387" y="0"/>
                  </a:cubicBezTo>
                  <a:lnTo>
                    <a:pt x="91567" y="0"/>
                  </a:lnTo>
                  <a:cubicBezTo>
                    <a:pt x="41021" y="0"/>
                    <a:pt x="0" y="41021"/>
                    <a:pt x="0" y="91567"/>
                  </a:cubicBezTo>
                  <a:close/>
                  <a:moveTo>
                    <a:pt x="2640198" y="331724"/>
                  </a:moveTo>
                  <a:lnTo>
                    <a:pt x="3299328" y="331724"/>
                  </a:lnTo>
                  <a:cubicBezTo>
                    <a:pt x="3349874" y="331724"/>
                    <a:pt x="3390895" y="372745"/>
                    <a:pt x="3390895" y="423291"/>
                  </a:cubicBezTo>
                  <a:lnTo>
                    <a:pt x="3390895" y="3562277"/>
                  </a:lnTo>
                  <a:cubicBezTo>
                    <a:pt x="3390895" y="3612823"/>
                    <a:pt x="3349874" y="3653844"/>
                    <a:pt x="3299328" y="3653844"/>
                  </a:cubicBezTo>
                  <a:lnTo>
                    <a:pt x="182753" y="3653844"/>
                  </a:lnTo>
                  <a:cubicBezTo>
                    <a:pt x="132207" y="3653844"/>
                    <a:pt x="91186" y="3612823"/>
                    <a:pt x="91186" y="3562277"/>
                  </a:cubicBezTo>
                  <a:lnTo>
                    <a:pt x="91186" y="182753"/>
                  </a:lnTo>
                  <a:cubicBezTo>
                    <a:pt x="91186" y="132207"/>
                    <a:pt x="132207" y="91186"/>
                    <a:pt x="182753" y="91186"/>
                  </a:cubicBezTo>
                  <a:lnTo>
                    <a:pt x="2343145" y="91186"/>
                  </a:lnTo>
                  <a:cubicBezTo>
                    <a:pt x="2369180" y="91186"/>
                    <a:pt x="2394072" y="102235"/>
                    <a:pt x="2411471" y="121666"/>
                  </a:cubicBezTo>
                  <a:lnTo>
                    <a:pt x="2572126" y="301244"/>
                  </a:lnTo>
                  <a:cubicBezTo>
                    <a:pt x="2589525" y="320675"/>
                    <a:pt x="2614290" y="331724"/>
                    <a:pt x="2640452" y="331724"/>
                  </a:cubicBezTo>
                  <a:lnTo>
                    <a:pt x="2640198" y="331724"/>
                  </a:lnTo>
                  <a:close/>
                </a:path>
              </a:pathLst>
            </a:custGeom>
            <a:solidFill>
              <a:srgbClr val="778DA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56341" y="1778250"/>
            <a:ext cx="8856263" cy="586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🎯 Strategic Recommendations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1️⃣ Improve Late Delivery Cases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Focus on the 6,286 very late deliveries.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2️⃣ Monitor High-Volume Sellers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High order sellers = high complaint potential.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3️⃣ Category Optimization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Invest more in: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Watches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Health &amp; Beauty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Sports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4️⃣ Customer Service Follow-up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Auto follow-up emails for: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Slight Delay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Late</a:t>
            </a:r>
          </a:p>
          <a:p>
            <a:pPr algn="l">
              <a:lnSpc>
                <a:spcPts val="3119"/>
              </a:lnSpc>
              <a:spcBef>
                <a:spcPct val="0"/>
              </a:spcBef>
            </a:pPr>
            <a:r>
              <a:rPr lang="en-US" sz="2599" spc="-142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Very Late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778DA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3657600"/>
            <a:ext cx="8324850" cy="2828925"/>
            <a:chOff x="0" y="0"/>
            <a:chExt cx="2192553" cy="74506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2553" cy="745067"/>
            </a:xfrm>
            <a:custGeom>
              <a:avLst/>
              <a:gdLst/>
              <a:ahLst/>
              <a:cxnLst/>
              <a:rect r="r" b="b" t="t" l="l"/>
              <a:pathLst>
                <a:path h="745067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07868"/>
                  </a:lnTo>
                  <a:cubicBezTo>
                    <a:pt x="2192553" y="717733"/>
                    <a:pt x="2188634" y="727195"/>
                    <a:pt x="2181658" y="734171"/>
                  </a:cubicBezTo>
                  <a:cubicBezTo>
                    <a:pt x="2174682" y="741147"/>
                    <a:pt x="2165220" y="745067"/>
                    <a:pt x="2155354" y="745067"/>
                  </a:cubicBezTo>
                  <a:lnTo>
                    <a:pt x="37199" y="745067"/>
                  </a:lnTo>
                  <a:cubicBezTo>
                    <a:pt x="27333" y="745067"/>
                    <a:pt x="17872" y="741147"/>
                    <a:pt x="10895" y="734171"/>
                  </a:cubicBezTo>
                  <a:cubicBezTo>
                    <a:pt x="3919" y="727195"/>
                    <a:pt x="0" y="717733"/>
                    <a:pt x="0" y="707868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92553" cy="80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6791325"/>
            <a:ext cx="8324850" cy="2828925"/>
            <a:chOff x="0" y="0"/>
            <a:chExt cx="2192553" cy="7450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2553" cy="745067"/>
            </a:xfrm>
            <a:custGeom>
              <a:avLst/>
              <a:gdLst/>
              <a:ahLst/>
              <a:cxnLst/>
              <a:rect r="r" b="b" t="t" l="l"/>
              <a:pathLst>
                <a:path h="745067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707868"/>
                  </a:lnTo>
                  <a:cubicBezTo>
                    <a:pt x="2192553" y="717733"/>
                    <a:pt x="2188634" y="727195"/>
                    <a:pt x="2181658" y="734171"/>
                  </a:cubicBezTo>
                  <a:cubicBezTo>
                    <a:pt x="2174682" y="741147"/>
                    <a:pt x="2165220" y="745067"/>
                    <a:pt x="2155354" y="745067"/>
                  </a:cubicBezTo>
                  <a:lnTo>
                    <a:pt x="37199" y="745067"/>
                  </a:lnTo>
                  <a:cubicBezTo>
                    <a:pt x="27333" y="745067"/>
                    <a:pt x="17872" y="741147"/>
                    <a:pt x="10895" y="734171"/>
                  </a:cubicBezTo>
                  <a:cubicBezTo>
                    <a:pt x="3919" y="727195"/>
                    <a:pt x="0" y="717733"/>
                    <a:pt x="0" y="707868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2553" cy="80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96400" y="3657600"/>
            <a:ext cx="8334375" cy="2828925"/>
            <a:chOff x="0" y="0"/>
            <a:chExt cx="2195062" cy="7450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5062" cy="745067"/>
            </a:xfrm>
            <a:custGeom>
              <a:avLst/>
              <a:gdLst/>
              <a:ahLst/>
              <a:cxnLst/>
              <a:rect r="r" b="b" t="t" l="l"/>
              <a:pathLst>
                <a:path h="745067" w="2195062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707910"/>
                  </a:lnTo>
                  <a:cubicBezTo>
                    <a:pt x="2195062" y="728431"/>
                    <a:pt x="2178426" y="745067"/>
                    <a:pt x="2157905" y="745067"/>
                  </a:cubicBezTo>
                  <a:lnTo>
                    <a:pt x="37157" y="745067"/>
                  </a:lnTo>
                  <a:cubicBezTo>
                    <a:pt x="16636" y="745067"/>
                    <a:pt x="0" y="728431"/>
                    <a:pt x="0" y="707910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5062" cy="80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96400" y="6791325"/>
            <a:ext cx="8334375" cy="2828925"/>
            <a:chOff x="0" y="0"/>
            <a:chExt cx="2195062" cy="7450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5062" cy="745067"/>
            </a:xfrm>
            <a:custGeom>
              <a:avLst/>
              <a:gdLst/>
              <a:ahLst/>
              <a:cxnLst/>
              <a:rect r="r" b="b" t="t" l="l"/>
              <a:pathLst>
                <a:path h="745067" w="2195062">
                  <a:moveTo>
                    <a:pt x="37157" y="0"/>
                  </a:moveTo>
                  <a:lnTo>
                    <a:pt x="2157905" y="0"/>
                  </a:lnTo>
                  <a:cubicBezTo>
                    <a:pt x="2178426" y="0"/>
                    <a:pt x="2195062" y="16636"/>
                    <a:pt x="2195062" y="37157"/>
                  </a:cubicBezTo>
                  <a:lnTo>
                    <a:pt x="2195062" y="707910"/>
                  </a:lnTo>
                  <a:cubicBezTo>
                    <a:pt x="2195062" y="728431"/>
                    <a:pt x="2178426" y="745067"/>
                    <a:pt x="2157905" y="745067"/>
                  </a:cubicBezTo>
                  <a:lnTo>
                    <a:pt x="37157" y="745067"/>
                  </a:lnTo>
                  <a:cubicBezTo>
                    <a:pt x="16636" y="745067"/>
                    <a:pt x="0" y="728431"/>
                    <a:pt x="0" y="707910"/>
                  </a:cubicBezTo>
                  <a:lnTo>
                    <a:pt x="0" y="37157"/>
                  </a:lnTo>
                  <a:cubicBezTo>
                    <a:pt x="0" y="16636"/>
                    <a:pt x="16636" y="0"/>
                    <a:pt x="37157" y="0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195062" cy="802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105025" y="4248150"/>
            <a:ext cx="6141142" cy="1271693"/>
            <a:chOff x="0" y="0"/>
            <a:chExt cx="8188190" cy="169559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9050"/>
              <a:ext cx="818819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Marketing Strategies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847865"/>
              <a:ext cx="8188190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Target top customer segments to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maximize engagement and conversion rates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 effectively.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105025" y="7381875"/>
            <a:ext cx="6141142" cy="1271693"/>
            <a:chOff x="0" y="0"/>
            <a:chExt cx="8188190" cy="169559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19050"/>
              <a:ext cx="818819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Product Recommendations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847865"/>
              <a:ext cx="8188190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Enhance product suggestions using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data-driven clustering results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 to boost sales.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34675" y="4248150"/>
            <a:ext cx="6216102" cy="1271693"/>
            <a:chOff x="0" y="0"/>
            <a:chExt cx="8288136" cy="169559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19050"/>
              <a:ext cx="8288136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Inventory Management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847865"/>
              <a:ext cx="8288136" cy="847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Adjust inventory levels based on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real-time sales trends and forecasts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 for efficiency.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34675" y="7381875"/>
            <a:ext cx="6216102" cy="1586018"/>
            <a:chOff x="0" y="0"/>
            <a:chExt cx="8288136" cy="2114690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19050"/>
              <a:ext cx="8288136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Payment Processes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0" y="847865"/>
              <a:ext cx="8288136" cy="1266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2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Improve checkout efficiency to </a:t>
              </a:r>
              <a:r>
                <a:rPr lang="en-US" b="true" sz="2100" spc="-115">
                  <a:solidFill>
                    <a:srgbClr val="E0E1DD"/>
                  </a:solidFill>
                  <a:latin typeface="Work Sans Bold"/>
                  <a:ea typeface="Work Sans Bold"/>
                  <a:cs typeface="Work Sans Bold"/>
                  <a:sym typeface="Work Sans Bold"/>
                </a:rPr>
                <a:t>reduce cart abandonment rates</a:t>
              </a: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 and increase completed transactions.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105025" y="1641475"/>
            <a:ext cx="1407795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649"/>
              </a:lnSpc>
            </a:pPr>
            <a:r>
              <a:rPr lang="en-US" b="true" sz="6999" spc="-384">
                <a:solidFill>
                  <a:srgbClr val="E0E1DD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Recommendations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39691" y="4248150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39691" y="7381875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9969341" y="4248150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69341" y="7381875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415A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8953500"/>
            <a:chOff x="0" y="0"/>
            <a:chExt cx="3299803" cy="1742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99803" cy="1742587"/>
            </a:xfrm>
            <a:custGeom>
              <a:avLst/>
              <a:gdLst/>
              <a:ahLst/>
              <a:cxnLst/>
              <a:rect r="r" b="b" t="t" l="l"/>
              <a:pathLst>
                <a:path h="1742587" w="3299803">
                  <a:moveTo>
                    <a:pt x="965120" y="1606277"/>
                  </a:moveTo>
                  <a:cubicBezTo>
                    <a:pt x="983327" y="1585924"/>
                    <a:pt x="1009342" y="1574291"/>
                    <a:pt x="1036650" y="1574291"/>
                  </a:cubicBezTo>
                  <a:lnTo>
                    <a:pt x="3213538" y="1574626"/>
                  </a:lnTo>
                  <a:cubicBezTo>
                    <a:pt x="3236413" y="1574639"/>
                    <a:pt x="3258355" y="1565561"/>
                    <a:pt x="3274534" y="1549390"/>
                  </a:cubicBezTo>
                  <a:cubicBezTo>
                    <a:pt x="3290713" y="1533220"/>
                    <a:pt x="3299803" y="1511283"/>
                    <a:pt x="3299803" y="1488408"/>
                  </a:cubicBezTo>
                  <a:lnTo>
                    <a:pt x="3299803" y="86219"/>
                  </a:lnTo>
                  <a:cubicBezTo>
                    <a:pt x="3299803" y="63352"/>
                    <a:pt x="3290719" y="41422"/>
                    <a:pt x="3274550" y="25253"/>
                  </a:cubicBezTo>
                  <a:cubicBezTo>
                    <a:pt x="3258381" y="9084"/>
                    <a:pt x="3236451" y="0"/>
                    <a:pt x="3213584" y="0"/>
                  </a:cubicBezTo>
                  <a:lnTo>
                    <a:pt x="303022" y="0"/>
                  </a:lnTo>
                  <a:cubicBezTo>
                    <a:pt x="278489" y="-1"/>
                    <a:pt x="255117" y="10450"/>
                    <a:pt x="238760" y="28735"/>
                  </a:cubicBezTo>
                  <a:lnTo>
                    <a:pt x="21960" y="271092"/>
                  </a:lnTo>
                  <a:cubicBezTo>
                    <a:pt x="7818" y="286900"/>
                    <a:pt x="0" y="307366"/>
                    <a:pt x="0" y="328576"/>
                  </a:cubicBezTo>
                  <a:lnTo>
                    <a:pt x="0" y="1656375"/>
                  </a:lnTo>
                  <a:cubicBezTo>
                    <a:pt x="4" y="1703990"/>
                    <a:pt x="38604" y="1742587"/>
                    <a:pt x="86219" y="1742587"/>
                  </a:cubicBezTo>
                  <a:lnTo>
                    <a:pt x="804624" y="1742587"/>
                  </a:lnTo>
                  <a:cubicBezTo>
                    <a:pt x="829157" y="1742588"/>
                    <a:pt x="852529" y="1732137"/>
                    <a:pt x="868886" y="1713853"/>
                  </a:cubicBezTo>
                  <a:close/>
                </a:path>
              </a:pathLst>
            </a:custGeom>
            <a:solidFill>
              <a:srgbClr val="1B263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1562100"/>
            <a:ext cx="12639675" cy="4834345"/>
            <a:chOff x="0" y="0"/>
            <a:chExt cx="16852900" cy="644579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33350"/>
              <a:ext cx="16852900" cy="1284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99"/>
                </a:lnSpc>
              </a:pPr>
              <a:r>
                <a:rPr lang="en-US" b="true" sz="6999" spc="-384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Summary and Conclusion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55253"/>
              <a:ext cx="168529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The value of data-driven decisions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252378"/>
              <a:ext cx="11506200" cy="3193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✔ Platform performing well overall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✔ Strong delivery efficiency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✔ High average rating (4.08)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⚠ 14% negative reviews need attention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⚠ Some sellers generating majority complaints</a:t>
              </a:r>
            </a:p>
            <a:p>
              <a:pPr algn="l">
                <a:lnSpc>
                  <a:spcPts val="2730"/>
                </a:lnSpc>
              </a:pPr>
              <a:r>
                <a:rPr lang="en-US" sz="2100" spc="-115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If you want, I can now:</a:t>
              </a:r>
            </a:p>
            <a:p>
              <a:pPr algn="l" marL="0" indent="0" lvl="0">
                <a:lnSpc>
                  <a:spcPts val="273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66750"/>
            <a:ext cx="16954500" cy="2686050"/>
            <a:chOff x="0" y="0"/>
            <a:chExt cx="4987154" cy="790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7156" cy="790100"/>
            </a:xfrm>
            <a:custGeom>
              <a:avLst/>
              <a:gdLst/>
              <a:ahLst/>
              <a:cxnLst/>
              <a:rect r="r" b="b" t="t" l="l"/>
              <a:pathLst>
                <a:path h="790100" w="4987156">
                  <a:moveTo>
                    <a:pt x="4640197" y="0"/>
                  </a:moveTo>
                  <a:lnTo>
                    <a:pt x="148415" y="0"/>
                  </a:lnTo>
                  <a:cubicBezTo>
                    <a:pt x="66448" y="0"/>
                    <a:pt x="0" y="66448"/>
                    <a:pt x="0" y="148415"/>
                  </a:cubicBezTo>
                  <a:lnTo>
                    <a:pt x="0" y="510707"/>
                  </a:lnTo>
                  <a:cubicBezTo>
                    <a:pt x="0" y="547218"/>
                    <a:pt x="13458" y="582448"/>
                    <a:pt x="37800" y="609659"/>
                  </a:cubicBezTo>
                  <a:lnTo>
                    <a:pt x="154967" y="740636"/>
                  </a:lnTo>
                  <a:cubicBezTo>
                    <a:pt x="183122" y="772111"/>
                    <a:pt x="223353" y="790101"/>
                    <a:pt x="265584" y="790100"/>
                  </a:cubicBezTo>
                  <a:lnTo>
                    <a:pt x="4838740" y="790100"/>
                  </a:lnTo>
                  <a:cubicBezTo>
                    <a:pt x="4878102" y="790100"/>
                    <a:pt x="4915853" y="774464"/>
                    <a:pt x="4943686" y="746630"/>
                  </a:cubicBezTo>
                  <a:cubicBezTo>
                    <a:pt x="4971519" y="718797"/>
                    <a:pt x="4987156" y="681047"/>
                    <a:pt x="4987156" y="641685"/>
                  </a:cubicBezTo>
                  <a:lnTo>
                    <a:pt x="4987156" y="366141"/>
                  </a:lnTo>
                  <a:cubicBezTo>
                    <a:pt x="4987156" y="329143"/>
                    <a:pt x="4973337" y="293478"/>
                    <a:pt x="4948407" y="266140"/>
                  </a:cubicBezTo>
                  <a:lnTo>
                    <a:pt x="4749864" y="48414"/>
                  </a:lnTo>
                  <a:cubicBezTo>
                    <a:pt x="4721742" y="17574"/>
                    <a:pt x="4681934" y="0"/>
                    <a:pt x="4640197" y="0"/>
                  </a:cubicBezTo>
                  <a:close/>
                </a:path>
              </a:pathLst>
            </a:custGeom>
            <a:solidFill>
              <a:srgbClr val="778DA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3657600"/>
            <a:ext cx="8324850" cy="5962650"/>
            <a:chOff x="0" y="0"/>
            <a:chExt cx="1289737" cy="9237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9737" cy="923771"/>
            </a:xfrm>
            <a:custGeom>
              <a:avLst/>
              <a:gdLst/>
              <a:ahLst/>
              <a:cxnLst/>
              <a:rect r="r" b="b" t="t" l="l"/>
              <a:pathLst>
                <a:path h="923771" w="1289737">
                  <a:moveTo>
                    <a:pt x="37199" y="0"/>
                  </a:moveTo>
                  <a:lnTo>
                    <a:pt x="1252538" y="0"/>
                  </a:lnTo>
                  <a:cubicBezTo>
                    <a:pt x="1262404" y="0"/>
                    <a:pt x="1271866" y="3919"/>
                    <a:pt x="1278842" y="10895"/>
                  </a:cubicBezTo>
                  <a:cubicBezTo>
                    <a:pt x="1285818" y="17872"/>
                    <a:pt x="1289737" y="27333"/>
                    <a:pt x="1289737" y="37199"/>
                  </a:cubicBezTo>
                  <a:lnTo>
                    <a:pt x="1289737" y="886571"/>
                  </a:lnTo>
                  <a:cubicBezTo>
                    <a:pt x="1289737" y="896437"/>
                    <a:pt x="1285818" y="905899"/>
                    <a:pt x="1278842" y="912875"/>
                  </a:cubicBezTo>
                  <a:cubicBezTo>
                    <a:pt x="1271866" y="919851"/>
                    <a:pt x="1262404" y="923771"/>
                    <a:pt x="1252538" y="923771"/>
                  </a:cubicBezTo>
                  <a:lnTo>
                    <a:pt x="37199" y="923771"/>
                  </a:lnTo>
                  <a:cubicBezTo>
                    <a:pt x="27333" y="923771"/>
                    <a:pt x="17872" y="919851"/>
                    <a:pt x="10895" y="912875"/>
                  </a:cubicBezTo>
                  <a:cubicBezTo>
                    <a:pt x="3919" y="905899"/>
                    <a:pt x="0" y="896437"/>
                    <a:pt x="0" y="88657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blipFill>
              <a:blip r:embed="rId2"/>
              <a:stretch>
                <a:fillRect l="-174" t="0" r="-174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320434" y="1570221"/>
            <a:ext cx="13424266" cy="1035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600"/>
              </a:lnSpc>
            </a:pPr>
            <a:r>
              <a:rPr lang="en-US" b="true" sz="8000" spc="-440">
                <a:solidFill>
                  <a:srgbClr val="E0E1DD"/>
                </a:solidFill>
                <a:latin typeface="Work Sans Semi-Bold"/>
                <a:ea typeface="Work Sans Semi-Bold"/>
                <a:cs typeface="Work Sans Semi-Bold"/>
                <a:sym typeface="Work Sans Semi-Bold"/>
              </a:rPr>
              <a:t>Questions &amp; Discussion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96400" y="3657600"/>
            <a:ext cx="8324850" cy="5962650"/>
            <a:chOff x="0" y="0"/>
            <a:chExt cx="2192553" cy="15704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2553" cy="1570410"/>
            </a:xfrm>
            <a:custGeom>
              <a:avLst/>
              <a:gdLst/>
              <a:ahLst/>
              <a:cxnLst/>
              <a:rect r="r" b="b" t="t" l="l"/>
              <a:pathLst>
                <a:path h="1570410" w="219255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533211"/>
                  </a:lnTo>
                  <a:cubicBezTo>
                    <a:pt x="2192553" y="1543077"/>
                    <a:pt x="2188634" y="1552538"/>
                    <a:pt x="2181658" y="1559514"/>
                  </a:cubicBezTo>
                  <a:cubicBezTo>
                    <a:pt x="2174682" y="1566491"/>
                    <a:pt x="2165220" y="1570410"/>
                    <a:pt x="2155354" y="1570410"/>
                  </a:cubicBezTo>
                  <a:lnTo>
                    <a:pt x="37199" y="1570410"/>
                  </a:lnTo>
                  <a:cubicBezTo>
                    <a:pt x="27333" y="1570410"/>
                    <a:pt x="17872" y="1566491"/>
                    <a:pt x="10895" y="1559514"/>
                  </a:cubicBezTo>
                  <a:cubicBezTo>
                    <a:pt x="3919" y="1552538"/>
                    <a:pt x="0" y="1543077"/>
                    <a:pt x="0" y="1533211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415A77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192553" cy="1627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34675" y="4248150"/>
            <a:ext cx="5448300" cy="855345"/>
            <a:chOff x="0" y="0"/>
            <a:chExt cx="7264400" cy="1140460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Email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668655"/>
              <a:ext cx="72644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115" strike="noStrike" u="none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hello@reallygreatsite.com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34675" y="6038952"/>
            <a:ext cx="5448300" cy="855345"/>
            <a:chOff x="0" y="0"/>
            <a:chExt cx="7264400" cy="114046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 strike="noStrike" u="none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Social Media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68655"/>
              <a:ext cx="72644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  <a:spcBef>
                  <a:spcPct val="0"/>
                </a:spcBef>
              </a:pPr>
              <a:r>
                <a:rPr lang="en-US" sz="2100" spc="-115" strike="noStrike" u="none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@reallygreatsite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34675" y="7829550"/>
            <a:ext cx="5448300" cy="838835"/>
            <a:chOff x="0" y="0"/>
            <a:chExt cx="7264400" cy="1118446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19050"/>
              <a:ext cx="726440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3000" spc="-165">
                  <a:solidFill>
                    <a:srgbClr val="E0E1DD"/>
                  </a:solidFill>
                  <a:latin typeface="Work Sans Semi-Bold"/>
                  <a:ea typeface="Work Sans Semi-Bold"/>
                  <a:cs typeface="Work Sans Semi-Bold"/>
                  <a:sym typeface="Work Sans Semi-Bold"/>
                </a:rPr>
                <a:t>Phone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659130"/>
              <a:ext cx="7264400" cy="4593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 spc="-110">
                  <a:solidFill>
                    <a:srgbClr val="E0E1DD"/>
                  </a:solidFill>
                  <a:latin typeface="Work Sans"/>
                  <a:ea typeface="Work Sans"/>
                  <a:cs typeface="Work Sans"/>
                  <a:sym typeface="Work Sans"/>
                </a:rPr>
                <a:t>123-456-7890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969341" y="4248150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4"/>
                </a:lnTo>
                <a:lnTo>
                  <a:pt x="0" y="4605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69341" y="6038952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969341" y="7829754"/>
            <a:ext cx="460534" cy="460534"/>
          </a:xfrm>
          <a:custGeom>
            <a:avLst/>
            <a:gdLst/>
            <a:ahLst/>
            <a:cxnLst/>
            <a:rect r="r" b="b" t="t" l="l"/>
            <a:pathLst>
              <a:path h="460534" w="460534">
                <a:moveTo>
                  <a:pt x="0" y="0"/>
                </a:moveTo>
                <a:lnTo>
                  <a:pt x="460534" y="0"/>
                </a:lnTo>
                <a:lnTo>
                  <a:pt x="460534" y="460535"/>
                </a:lnTo>
                <a:lnTo>
                  <a:pt x="0" y="4605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B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11612" y="3258748"/>
            <a:ext cx="5932019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E-commerce Dataset Analysis</dc:description>
  <dc:identifier>DAHBYf1NAR4</dc:identifier>
  <dcterms:modified xsi:type="dcterms:W3CDTF">2011-08-01T06:04:30Z</dcterms:modified>
  <cp:revision>1</cp:revision>
  <dc:title>Presentation - E-commerce Dataset Analysis</dc:title>
</cp:coreProperties>
</file>